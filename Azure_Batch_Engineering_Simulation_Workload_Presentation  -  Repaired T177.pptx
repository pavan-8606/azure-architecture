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6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AZURE BATCH FOR AN</a:t>
            </a:r>
            <a:br/>
            <a:r>
              <a:t>ENGINEERING SIMULATION WORKLOAD</a:t>
            </a:r>
          </a:p>
          <a:p>
            <a:pPr>
              <a:defRPr sz="1900">
                <a:solidFill>
                  <a:srgbClr val="BEDCF5"/>
                </a:solidFill>
              </a:defRPr>
            </a:pPr>
            <a:r>
              <a:t>Cloud-based parallel processing prototype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30167"/>
            <a:ext cx="4937760" cy="1417320"/>
          </a:xfrm>
          <a:prstGeom prst="roundRect">
            <a:avLst/>
          </a:prstGeom>
          <a:solidFill>
            <a:srgbClr val="F0F6FC"/>
          </a:solidFill>
          <a:ln>
            <a:solidFill>
              <a:srgbClr val="E1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77240" y="3657600"/>
            <a:ext cx="82296" cy="14173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3717035"/>
            <a:ext cx="4526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A33"/>
                </a:solidFill>
                <a:latin typeface="Aptos"/>
              </a:defRPr>
            </a:pPr>
            <a:endParaRPr lang="en-IN" dirty="0" err="1"/>
          </a:p>
        </p:txBody>
      </p:sp>
      <p:sp>
        <p:nvSpPr>
          <p:cNvPr id="9" name="Rounded Rectangle 8"/>
          <p:cNvSpPr/>
          <p:nvPr/>
        </p:nvSpPr>
        <p:spPr>
          <a:xfrm>
            <a:off x="5989320" y="3657600"/>
            <a:ext cx="4937760" cy="1417320"/>
          </a:xfrm>
          <a:prstGeom prst="roundRect">
            <a:avLst/>
          </a:prstGeom>
          <a:solidFill>
            <a:srgbClr val="F0F6FC"/>
          </a:solidFill>
          <a:ln>
            <a:solidFill>
              <a:srgbClr val="E1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89320" y="3657600"/>
            <a:ext cx="82296" cy="1417320"/>
          </a:xfrm>
          <a:prstGeom prst="rect">
            <a:avLst/>
          </a:prstGeom>
          <a:solidFill>
            <a:srgbClr val="2A9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3822191"/>
            <a:ext cx="4526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8223D"/>
                </a:solidFill>
                <a:latin typeface="Aptos"/>
              </a:defRPr>
            </a:pPr>
            <a:r>
              <a:t>Institution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4315968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A33"/>
                </a:solidFill>
                <a:latin typeface="Aptos"/>
              </a:defRPr>
            </a:pPr>
            <a:r>
              <a:t>Koneru Lakshmaiah Education Foundation (KLEF)</a:t>
            </a:r>
            <a:br/>
            <a:r>
              <a:t>Department of Computer Science and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9893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C8DC"/>
                </a:solidFill>
              </a:defRPr>
            </a:pPr>
            <a:r>
              <a:t>Azure for Students • Azure Batch • 300 simulation tasks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8503FDF-3E9D-DE7A-D7B8-F577F4A8D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3657600"/>
            <a:ext cx="2499513" cy="13226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8223D"/>
                </a:solidFill>
                <a:latin typeface="Aptos Display"/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7387"/>
                </a:solidFill>
                <a:latin typeface="Aptos"/>
              </a:defRPr>
            </a:pPr>
            <a:r>
              <a:t>Why cloud batch processing is useful for engineering workloads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02A33"/>
                </a:solidFill>
                <a:latin typeface="Aptos"/>
              </a:defRPr>
            </a:pPr>
            <a:r>
              <a:t>• Engineering simulations often require many independent runs with different input parameters.</a:t>
            </a:r>
          </a:p>
          <a:p>
            <a:pPr>
              <a:spcAft>
                <a:spcPts val="1300"/>
              </a:spcAft>
              <a:defRPr sz="1900">
                <a:solidFill>
                  <a:srgbClr val="202A33"/>
                </a:solidFill>
                <a:latin typeface="Aptos"/>
              </a:defRPr>
            </a:pPr>
            <a:r>
              <a:t>• Running a large set of independent calculations on a single machine can be time-consuming.</a:t>
            </a:r>
          </a:p>
          <a:p>
            <a:pPr>
              <a:spcAft>
                <a:spcPts val="1300"/>
              </a:spcAft>
              <a:defRPr sz="1900">
                <a:solidFill>
                  <a:srgbClr val="202A33"/>
                </a:solidFill>
                <a:latin typeface="Aptos"/>
              </a:defRPr>
            </a:pPr>
            <a:r>
              <a:t>• Azure Batch provides a managed way to create compute pools, jobs and tasks, and schedule those tasks across compute nodes.</a:t>
            </a:r>
          </a:p>
          <a:p>
            <a:pPr>
              <a:spcAft>
                <a:spcPts val="1300"/>
              </a:spcAft>
              <a:defRPr sz="1900">
                <a:solidFill>
                  <a:srgbClr val="202A33"/>
                </a:solidFill>
                <a:latin typeface="Aptos"/>
              </a:defRPr>
            </a:pPr>
            <a:r>
              <a:t>• This project demonstrates the workflow using a controlled numerical simulation workload.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615684"/>
            <a:ext cx="10515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Azure Batch for an Engineering Simulation Workload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60654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8223D"/>
                </a:solidFill>
                <a:latin typeface="Aptos Display"/>
              </a:defRPr>
            </a:pPr>
            <a:r>
              <a:t>2.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429000" cy="4160520"/>
          </a:xfrm>
          <a:prstGeom prst="roundRect">
            <a:avLst/>
          </a:prstGeom>
          <a:solidFill>
            <a:srgbClr val="F0F6FC"/>
          </a:solidFill>
          <a:ln>
            <a:solidFill>
              <a:srgbClr val="E1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82296" cy="41605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9047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8223D"/>
                </a:solidFill>
                <a:latin typeface="Aptos"/>
              </a:defRPr>
            </a:pPr>
            <a:r>
              <a:t>Engineering Workload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84248"/>
            <a:ext cx="30175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A33"/>
                </a:solidFill>
                <a:latin typeface="Aptos"/>
              </a:defRPr>
            </a:pPr>
            <a:r>
              <a:t>A simulation study may require hundreds of independent scenarios or parameter combinations.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429000" cy="4160520"/>
          </a:xfrm>
          <a:prstGeom prst="roundRect">
            <a:avLst/>
          </a:prstGeom>
          <a:solidFill>
            <a:srgbClr val="F0F6FC"/>
          </a:solidFill>
          <a:ln>
            <a:solidFill>
              <a:srgbClr val="E1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325880"/>
            <a:ext cx="82296" cy="4160520"/>
          </a:xfrm>
          <a:prstGeom prst="rect">
            <a:avLst/>
          </a:prstGeom>
          <a:solidFill>
            <a:srgbClr val="2A9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49047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8223D"/>
                </a:solidFill>
                <a:latin typeface="Aptos"/>
              </a:defRPr>
            </a:pPr>
            <a:r>
              <a:t>Processing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984248"/>
            <a:ext cx="30175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A33"/>
                </a:solidFill>
                <a:latin typeface="Aptos"/>
              </a:defRPr>
            </a:pPr>
            <a:r>
              <a:t>Sequential execution can increase turnaround time and makes scaling difficult.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3429000" cy="4160520"/>
          </a:xfrm>
          <a:prstGeom prst="roundRect">
            <a:avLst/>
          </a:prstGeom>
          <a:solidFill>
            <a:srgbClr val="F0F6FC"/>
          </a:solidFill>
          <a:ln>
            <a:solidFill>
              <a:srgbClr val="E1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92440" y="1325880"/>
            <a:ext cx="82296" cy="41605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149047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8223D"/>
                </a:solidFill>
                <a:latin typeface="Aptos"/>
              </a:defRPr>
            </a:pPr>
            <a:r>
              <a:t>Cloud Approach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984248"/>
            <a:ext cx="30175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A33"/>
                </a:solidFill>
                <a:latin typeface="Aptos"/>
              </a:defRPr>
            </a:pPr>
            <a:r>
              <a:t>Use Azure Batch to schedule many independent tasks over a small pool of compute nodes.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6615684"/>
            <a:ext cx="10515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Azure Batch for an Engineering Simulation Workload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60654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3. 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Aptos"/>
              </a:defRPr>
            </a:pPr>
            <a:r>
              <a:t>The implementation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• Create an Azure Batch account and a compute pool.</a:t>
            </a:r>
          </a:p>
          <a:p>
            <a:pPr>
              <a:spcAft>
                <a:spcPts val="13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• Create a Batch job for the simulation workload.</a:t>
            </a:r>
          </a:p>
          <a:p>
            <a:pPr>
              <a:spcAft>
                <a:spcPts val="13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• Generate and submit 300 independent simulation tasks.</a:t>
            </a:r>
          </a:p>
          <a:p>
            <a:pPr>
              <a:spcAft>
                <a:spcPts val="13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• Monitor task execution and verify completion.</a:t>
            </a:r>
          </a:p>
          <a:p>
            <a:pPr>
              <a:spcAft>
                <a:spcPts val="13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• Demonstrate how the same pattern can support larger engineering simulation studies.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615684"/>
            <a:ext cx="10515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Azure Batch for an Engineering Simulation Workload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60654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9832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8223D"/>
                </a:solidFill>
                <a:latin typeface="Aptos Display"/>
              </a:defRPr>
            </a:pPr>
            <a:r>
              <a:t>4. Engineering Use Case /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369126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7387"/>
                </a:solidFill>
                <a:latin typeface="Aptos"/>
              </a:defRPr>
            </a:pPr>
            <a:r>
              <a:rPr dirty="0"/>
              <a:t>Standalone conceptual prototype: </a:t>
            </a:r>
            <a:r>
              <a:rPr lang="en-US" dirty="0" err="1"/>
              <a:t>Simflow</a:t>
            </a:r>
            <a:r>
              <a:rPr lang="en-US" dirty="0"/>
              <a:t> Workload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331720" cy="2331720"/>
          </a:xfrm>
          <a:prstGeom prst="roundRect">
            <a:avLst/>
          </a:prstGeom>
          <a:solidFill>
            <a:srgbClr val="F0F6FC"/>
          </a:solidFill>
          <a:ln>
            <a:solidFill>
              <a:srgbClr val="E1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82296" cy="2331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993392"/>
            <a:ext cx="19202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8223D"/>
                </a:solidFill>
                <a:latin typeface="Aptos"/>
              </a:defRPr>
            </a:pPr>
            <a:r>
              <a:t>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87168"/>
            <a:ext cx="192023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A33"/>
                </a:solidFill>
                <a:latin typeface="Aptos"/>
              </a:defRPr>
            </a:pPr>
            <a:r>
              <a:rPr lang="en-US" dirty="0"/>
              <a:t>Number of simulations according to users use</a:t>
            </a:r>
            <a:endParaRPr dirty="0"/>
          </a:p>
        </p:txBody>
      </p:sp>
      <p:cxnSp>
        <p:nvCxnSpPr>
          <p:cNvPr id="9" name="Connector 8"/>
          <p:cNvCxnSpPr/>
          <p:nvPr/>
        </p:nvCxnSpPr>
        <p:spPr>
          <a:xfrm>
            <a:off x="2834639" y="2999232"/>
            <a:ext cx="594361" cy="0"/>
          </a:xfrm>
          <a:prstGeom prst="line">
            <a:avLst/>
          </a:prstGeom>
          <a:ln w="25400">
            <a:solidFill>
              <a:srgbClr val="5C73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29000" y="1828800"/>
            <a:ext cx="2331720" cy="2331720"/>
          </a:xfrm>
          <a:prstGeom prst="roundRect">
            <a:avLst/>
          </a:prstGeom>
          <a:solidFill>
            <a:srgbClr val="F0F6FC"/>
          </a:solidFill>
          <a:ln>
            <a:solidFill>
              <a:srgbClr val="E1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29000" y="1828800"/>
            <a:ext cx="82296" cy="2331720"/>
          </a:xfrm>
          <a:prstGeom prst="rect">
            <a:avLst/>
          </a:prstGeom>
          <a:solidFill>
            <a:srgbClr val="2A9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9202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8223D"/>
                </a:solidFill>
                <a:latin typeface="Aptos"/>
              </a:defRPr>
            </a:pPr>
            <a:r>
              <a:t>Scenarios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487168"/>
            <a:ext cx="1920239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A33"/>
                </a:solidFill>
                <a:latin typeface="Aptos"/>
              </a:defRPr>
            </a:pPr>
            <a:r>
              <a:t>300 independent</a:t>
            </a:r>
            <a:br/>
            <a:r>
              <a:t>simulation cases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760720" y="2999232"/>
            <a:ext cx="594360" cy="0"/>
          </a:xfrm>
          <a:prstGeom prst="line">
            <a:avLst/>
          </a:prstGeom>
          <a:ln w="25400">
            <a:solidFill>
              <a:srgbClr val="5C73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55080" y="1828800"/>
            <a:ext cx="2331720" cy="2331720"/>
          </a:xfrm>
          <a:prstGeom prst="roundRect">
            <a:avLst/>
          </a:prstGeom>
          <a:solidFill>
            <a:srgbClr val="F0F6FC"/>
          </a:solidFill>
          <a:ln>
            <a:solidFill>
              <a:srgbClr val="E1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55080" y="1828800"/>
            <a:ext cx="82296" cy="2331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1993392"/>
            <a:ext cx="19202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8223D"/>
                </a:solidFill>
                <a:latin typeface="Aptos"/>
              </a:defRPr>
            </a:pPr>
            <a:r>
              <a:t>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487168"/>
            <a:ext cx="1920239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A33"/>
                </a:solidFill>
                <a:latin typeface="Aptos"/>
              </a:defRPr>
            </a:pPr>
            <a:r>
              <a:t>Numerical simulation</a:t>
            </a:r>
            <a:br/>
            <a:r>
              <a:t>for each case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86800" y="2999232"/>
            <a:ext cx="594360" cy="0"/>
          </a:xfrm>
          <a:prstGeom prst="line">
            <a:avLst/>
          </a:prstGeom>
          <a:ln w="25400">
            <a:solidFill>
              <a:srgbClr val="5C73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281160" y="1828800"/>
            <a:ext cx="2331720" cy="2331720"/>
          </a:xfrm>
          <a:prstGeom prst="roundRect">
            <a:avLst/>
          </a:prstGeom>
          <a:solidFill>
            <a:srgbClr val="F0F6FC"/>
          </a:solidFill>
          <a:ln>
            <a:solidFill>
              <a:srgbClr val="E1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281160" y="1828800"/>
            <a:ext cx="82296" cy="2331720"/>
          </a:xfrm>
          <a:prstGeom prst="rect">
            <a:avLst/>
          </a:prstGeom>
          <a:solidFill>
            <a:srgbClr val="2A9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09760" y="1993392"/>
            <a:ext cx="19202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8223D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487168"/>
            <a:ext cx="19202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A33"/>
                </a:solidFill>
                <a:latin typeface="Aptos"/>
              </a:defRPr>
            </a:pPr>
            <a:r>
              <a:rPr lang="en-US" dirty="0"/>
              <a:t>Completion of the jobs as per given</a:t>
            </a:r>
            <a:endParaRPr dirty="0"/>
          </a:p>
        </p:txBody>
      </p:sp>
      <p:sp>
        <p:nvSpPr>
          <p:cNvPr id="25" name="Rectangle 2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6615684"/>
            <a:ext cx="10515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Azure Batch for an Engineering Simulation Workload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60654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530F9-F0CD-10D9-9663-408F6E2A4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26227F1-C6FA-FE6B-753C-55A14EBCF74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5026D1-083E-97B5-8FD8-C7FD6AEEC828}"/>
              </a:ext>
            </a:extLst>
          </p:cNvPr>
          <p:cNvSpPr txBox="1"/>
          <p:nvPr/>
        </p:nvSpPr>
        <p:spPr>
          <a:xfrm>
            <a:off x="594360" y="320040"/>
            <a:ext cx="340593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8223D"/>
                </a:solidFill>
                <a:latin typeface="Aptos Display"/>
              </a:defRPr>
            </a:pPr>
            <a:r>
              <a:rPr lang="en-IN" dirty="0"/>
              <a:t>Prototype Simulation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136FA6-BBB1-DA18-3DFF-1C6D380C7E7E}"/>
              </a:ext>
            </a:extLst>
          </p:cNvPr>
          <p:cNvSpPr txBox="1"/>
          <p:nvPr/>
        </p:nvSpPr>
        <p:spPr>
          <a:xfrm>
            <a:off x="612648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7387"/>
                </a:solidFill>
                <a:latin typeface="Aptos"/>
              </a:defRPr>
            </a:pPr>
            <a:r>
              <a:t>Actual pool used for the workload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0DF3DA8-F28B-18C0-24C8-B4E993274FE5}"/>
              </a:ext>
            </a:extLst>
          </p:cNvPr>
          <p:cNvSpPr/>
          <p:nvPr/>
        </p:nvSpPr>
        <p:spPr>
          <a:xfrm>
            <a:off x="502920" y="1325880"/>
            <a:ext cx="112014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1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DDCFA6-149E-1E1E-AAAF-DB09910EC9FE}"/>
              </a:ext>
            </a:extLst>
          </p:cNvPr>
          <p:cNvSpPr txBox="1"/>
          <p:nvPr/>
        </p:nvSpPr>
        <p:spPr>
          <a:xfrm>
            <a:off x="502920" y="6272783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C7387"/>
                </a:solidFill>
              </a:defRPr>
            </a:pPr>
            <a:r>
              <a:t>simulation-pool: 2 dedicated nodes • 4 vCPUs total • Standard_D2s_v3 • Steady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B18BAB-1A7E-6A96-39BC-F4B4E565EE07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D3DBC5-DCDE-43D6-EEE0-8D3505BAB78A}"/>
              </a:ext>
            </a:extLst>
          </p:cNvPr>
          <p:cNvSpPr txBox="1"/>
          <p:nvPr/>
        </p:nvSpPr>
        <p:spPr>
          <a:xfrm>
            <a:off x="502920" y="6615684"/>
            <a:ext cx="10515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Azure Batch for an Engineering Simulation Workload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A782AC-05F4-F20F-1161-CDCDCAE7C51E}"/>
              </a:ext>
            </a:extLst>
          </p:cNvPr>
          <p:cNvSpPr txBox="1"/>
          <p:nvPr/>
        </p:nvSpPr>
        <p:spPr>
          <a:xfrm>
            <a:off x="11155680" y="660654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9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390A38F-0F0B-9FF9-EC5E-483E939C2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16413"/>
            <a:ext cx="11201400" cy="5356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467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9664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8223D"/>
                </a:solidFill>
                <a:latin typeface="Aptos Display"/>
              </a:defRPr>
            </a:pPr>
            <a:r>
              <a:t>5. Proposed Azure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965960"/>
            <a:ext cx="2057400" cy="2331720"/>
          </a:xfrm>
          <a:prstGeom prst="roundRect">
            <a:avLst/>
          </a:prstGeom>
          <a:solidFill>
            <a:srgbClr val="F0F6FC"/>
          </a:solidFill>
          <a:ln>
            <a:solidFill>
              <a:srgbClr val="E1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965960"/>
            <a:ext cx="82296" cy="2331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130552"/>
            <a:ext cx="159261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8223D"/>
                </a:solidFill>
                <a:latin typeface="Aptos"/>
              </a:defRPr>
            </a:pPr>
            <a:r>
              <a:rPr dirty="0"/>
              <a:t>Azure Portal /</a:t>
            </a:r>
            <a:endParaRPr lang="en-US" dirty="0"/>
          </a:p>
          <a:p>
            <a:pPr>
              <a:defRPr sz="1800" b="1">
                <a:solidFill>
                  <a:srgbClr val="08223D"/>
                </a:solidFill>
                <a:latin typeface="Aptos"/>
              </a:defRPr>
            </a:pPr>
            <a:r>
              <a:rPr dirty="0"/>
              <a:t> Cloud Shell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19530"/>
            <a:ext cx="1645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A33"/>
                </a:solidFill>
                <a:latin typeface="Aptos"/>
              </a:defRPr>
            </a:pPr>
            <a:r>
              <a:rPr dirty="0"/>
              <a:t>Create and manage resources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68880" y="3136392"/>
            <a:ext cx="301752" cy="0"/>
          </a:xfrm>
          <a:prstGeom prst="line">
            <a:avLst/>
          </a:prstGeom>
          <a:ln w="25400">
            <a:solidFill>
              <a:srgbClr val="5C73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70632" y="1965960"/>
            <a:ext cx="2057400" cy="2331720"/>
          </a:xfrm>
          <a:prstGeom prst="roundRect">
            <a:avLst/>
          </a:prstGeom>
          <a:solidFill>
            <a:srgbClr val="F0F6FC"/>
          </a:solidFill>
          <a:ln>
            <a:solidFill>
              <a:srgbClr val="E1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70632" y="1965960"/>
            <a:ext cx="82296" cy="2331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99232" y="2130552"/>
            <a:ext cx="143757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8223D"/>
                </a:solidFill>
                <a:latin typeface="Aptos"/>
              </a:defRPr>
            </a:pPr>
            <a:r>
              <a:rPr dirty="0"/>
              <a:t>Azure Batch</a:t>
            </a:r>
            <a:endParaRPr lang="en-US" dirty="0"/>
          </a:p>
          <a:p>
            <a:pPr>
              <a:defRPr sz="1800" b="1">
                <a:solidFill>
                  <a:srgbClr val="08223D"/>
                </a:solidFill>
                <a:latin typeface="Aptos"/>
              </a:defRPr>
            </a:pPr>
            <a:r>
              <a:rPr dirty="0"/>
              <a:t> Account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3512" y="3119530"/>
            <a:ext cx="1645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A33"/>
                </a:solidFill>
                <a:latin typeface="Aptos"/>
              </a:defRPr>
            </a:pPr>
            <a:r>
              <a:t>engsimbatch2026neha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28032" y="3136392"/>
            <a:ext cx="301752" cy="0"/>
          </a:xfrm>
          <a:prstGeom prst="line">
            <a:avLst/>
          </a:prstGeom>
          <a:ln w="25400">
            <a:solidFill>
              <a:srgbClr val="5C73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29784" y="1965960"/>
            <a:ext cx="2057400" cy="2331720"/>
          </a:xfrm>
          <a:prstGeom prst="roundRect">
            <a:avLst/>
          </a:prstGeom>
          <a:solidFill>
            <a:srgbClr val="F0F6FC"/>
          </a:solidFill>
          <a:ln>
            <a:solidFill>
              <a:srgbClr val="E1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129784" y="1965960"/>
            <a:ext cx="82296" cy="2331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58384" y="2130552"/>
            <a:ext cx="1645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8223D"/>
                </a:solidFill>
                <a:latin typeface="Aptos"/>
              </a:defRPr>
            </a:pPr>
            <a:r>
              <a:t>Compute Pool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7713" y="3119530"/>
            <a:ext cx="1645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A33"/>
                </a:solidFill>
                <a:latin typeface="Aptos"/>
              </a:defRPr>
            </a:pPr>
            <a:r>
              <a:rPr dirty="0"/>
              <a:t>simulation-pool</a:t>
            </a:r>
            <a:br>
              <a:rPr dirty="0"/>
            </a:br>
            <a:r>
              <a:rPr dirty="0"/>
              <a:t>2 × Standard_D2s_v3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87184" y="3136392"/>
            <a:ext cx="301752" cy="0"/>
          </a:xfrm>
          <a:prstGeom prst="line">
            <a:avLst/>
          </a:prstGeom>
          <a:ln w="25400">
            <a:solidFill>
              <a:srgbClr val="5C73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88936" y="1965960"/>
            <a:ext cx="2057400" cy="2331720"/>
          </a:xfrm>
          <a:prstGeom prst="roundRect">
            <a:avLst/>
          </a:prstGeom>
          <a:solidFill>
            <a:srgbClr val="F0F6FC"/>
          </a:solidFill>
          <a:ln>
            <a:solidFill>
              <a:srgbClr val="E1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88936" y="1965960"/>
            <a:ext cx="82296" cy="2331720"/>
          </a:xfrm>
          <a:prstGeom prst="rect">
            <a:avLst/>
          </a:prstGeom>
          <a:solidFill>
            <a:srgbClr val="2A9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17536" y="2130552"/>
            <a:ext cx="1645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8223D"/>
                </a:solidFill>
                <a:latin typeface="Aptos"/>
              </a:defRPr>
            </a:pPr>
            <a:r>
              <a:t>Batch Job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3119530"/>
            <a:ext cx="1645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A33"/>
                </a:solidFill>
                <a:latin typeface="Aptos"/>
              </a:defRPr>
            </a:pPr>
            <a:r>
              <a:t>simulation-job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546336" y="3136392"/>
            <a:ext cx="301752" cy="0"/>
          </a:xfrm>
          <a:prstGeom prst="line">
            <a:avLst/>
          </a:prstGeom>
          <a:ln w="25400">
            <a:solidFill>
              <a:srgbClr val="5C73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848088" y="1965960"/>
            <a:ext cx="2057400" cy="2331720"/>
          </a:xfrm>
          <a:prstGeom prst="roundRect">
            <a:avLst/>
          </a:prstGeom>
          <a:solidFill>
            <a:srgbClr val="F0F6FC"/>
          </a:solidFill>
          <a:ln>
            <a:solidFill>
              <a:srgbClr val="E1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848088" y="1965960"/>
            <a:ext cx="82296" cy="2331720"/>
          </a:xfrm>
          <a:prstGeom prst="rect">
            <a:avLst/>
          </a:prstGeom>
          <a:solidFill>
            <a:srgbClr val="2A9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76688" y="2130552"/>
            <a:ext cx="1645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8223D"/>
                </a:solidFill>
                <a:latin typeface="Aptos"/>
              </a:defRPr>
            </a:pPr>
            <a:r>
              <a:t>300 Tasks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34600" y="3119530"/>
            <a:ext cx="1645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A33"/>
                </a:solidFill>
                <a:latin typeface="Aptos"/>
              </a:defRPr>
            </a:pPr>
            <a:r>
              <a:t>simulation-task-001 … 300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6615684"/>
            <a:ext cx="10515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Azure Batch for an Engineering Simulation Workload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60654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8223D"/>
                </a:solidFill>
                <a:latin typeface="Aptos Display"/>
              </a:defRPr>
            </a:pPr>
            <a:r>
              <a:t>6. Azure Resources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3474720" cy="1234440"/>
          </a:xfrm>
          <a:prstGeom prst="roundRect">
            <a:avLst/>
          </a:prstGeom>
          <a:solidFill>
            <a:srgbClr val="F0F6FC"/>
          </a:solidFill>
          <a:ln>
            <a:solidFill>
              <a:srgbClr val="E1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82296" cy="1234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90472"/>
            <a:ext cx="30632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8223D"/>
                </a:solidFill>
                <a:latin typeface="Aptos"/>
              </a:defRPr>
            </a:pPr>
            <a:r>
              <a:t>Subscription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84248"/>
            <a:ext cx="3063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A33"/>
                </a:solidFill>
                <a:latin typeface="Aptos"/>
              </a:defRPr>
            </a:pPr>
            <a:r>
              <a:t>Azure for Students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474720" cy="1234440"/>
          </a:xfrm>
          <a:prstGeom prst="roundRect">
            <a:avLst/>
          </a:prstGeom>
          <a:solidFill>
            <a:srgbClr val="F0F6FC"/>
          </a:solidFill>
          <a:ln>
            <a:solidFill>
              <a:srgbClr val="E1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325880"/>
            <a:ext cx="82296" cy="1234440"/>
          </a:xfrm>
          <a:prstGeom prst="rect">
            <a:avLst/>
          </a:prstGeom>
          <a:solidFill>
            <a:srgbClr val="2A9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490472"/>
            <a:ext cx="30632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8223D"/>
                </a:solidFill>
                <a:latin typeface="Aptos"/>
              </a:defRPr>
            </a:pPr>
            <a:r>
              <a:t>Resource 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984248"/>
            <a:ext cx="3063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A33"/>
                </a:solidFill>
                <a:latin typeface="Aptos"/>
              </a:defRPr>
            </a:pPr>
            <a:r>
              <a:t>RG-Engineering-Simulation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325880"/>
            <a:ext cx="3474720" cy="1234440"/>
          </a:xfrm>
          <a:prstGeom prst="roundRect">
            <a:avLst/>
          </a:prstGeom>
          <a:solidFill>
            <a:srgbClr val="F0F6FC"/>
          </a:solidFill>
          <a:ln>
            <a:solidFill>
              <a:srgbClr val="E1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75320" y="1325880"/>
            <a:ext cx="82296" cy="1234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0" y="1490472"/>
            <a:ext cx="30632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8223D"/>
                </a:solidFill>
                <a:latin typeface="Aptos"/>
              </a:defRPr>
            </a:pPr>
            <a:r>
              <a:t>Batch Account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984248"/>
            <a:ext cx="3063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A33"/>
                </a:solidFill>
                <a:latin typeface="Aptos"/>
              </a:defRPr>
            </a:pPr>
            <a:r>
              <a:t>engsimbatch2026neha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880360"/>
            <a:ext cx="3474720" cy="1234440"/>
          </a:xfrm>
          <a:prstGeom prst="roundRect">
            <a:avLst/>
          </a:prstGeom>
          <a:solidFill>
            <a:srgbClr val="F0F6FC"/>
          </a:solidFill>
          <a:ln>
            <a:solidFill>
              <a:srgbClr val="E1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2880360"/>
            <a:ext cx="82296" cy="1234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044952"/>
            <a:ext cx="30632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8223D"/>
                </a:solidFill>
                <a:latin typeface="Aptos"/>
              </a:defRPr>
            </a:pPr>
            <a:r>
              <a:t>Region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538728"/>
            <a:ext cx="3063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A33"/>
                </a:solidFill>
                <a:latin typeface="Aptos"/>
              </a:defRPr>
            </a:pPr>
            <a:r>
              <a:t>India South Central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2880360"/>
            <a:ext cx="3474720" cy="1234440"/>
          </a:xfrm>
          <a:prstGeom prst="roundRect">
            <a:avLst/>
          </a:prstGeom>
          <a:solidFill>
            <a:srgbClr val="F0F6FC"/>
          </a:solidFill>
          <a:ln>
            <a:solidFill>
              <a:srgbClr val="E1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89120" y="2880360"/>
            <a:ext cx="82296" cy="1234440"/>
          </a:xfrm>
          <a:prstGeom prst="rect">
            <a:avLst/>
          </a:prstGeom>
          <a:solidFill>
            <a:srgbClr val="2A9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17720" y="3044952"/>
            <a:ext cx="30632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8223D"/>
                </a:solidFill>
                <a:latin typeface="Aptos"/>
              </a:defRPr>
            </a:pPr>
            <a:r>
              <a:t>Pool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538728"/>
            <a:ext cx="3063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A33"/>
                </a:solidFill>
                <a:latin typeface="Aptos"/>
              </a:defRPr>
            </a:pPr>
            <a:r>
              <a:t>simulation-pool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2880360"/>
            <a:ext cx="3474720" cy="1234440"/>
          </a:xfrm>
          <a:prstGeom prst="roundRect">
            <a:avLst/>
          </a:prstGeom>
          <a:solidFill>
            <a:srgbClr val="F0F6FC"/>
          </a:solidFill>
          <a:ln>
            <a:solidFill>
              <a:srgbClr val="E1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75320" y="2880360"/>
            <a:ext cx="82296" cy="1234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03920" y="3044952"/>
            <a:ext cx="30632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8223D"/>
                </a:solidFill>
                <a:latin typeface="Aptos"/>
              </a:defRPr>
            </a:pPr>
            <a:r>
              <a:t>VM Size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538728"/>
            <a:ext cx="3063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A33"/>
                </a:solidFill>
                <a:latin typeface="Aptos"/>
              </a:defRPr>
            </a:pPr>
            <a:r>
              <a:t>Standard_D2s_v3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434840"/>
            <a:ext cx="3474720" cy="1234440"/>
          </a:xfrm>
          <a:prstGeom prst="roundRect">
            <a:avLst/>
          </a:prstGeom>
          <a:solidFill>
            <a:srgbClr val="F0F6FC"/>
          </a:solidFill>
          <a:ln>
            <a:solidFill>
              <a:srgbClr val="E1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02920" y="4434840"/>
            <a:ext cx="82296" cy="1234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" y="4599431"/>
            <a:ext cx="30632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8223D"/>
                </a:solidFill>
                <a:latin typeface="Aptos"/>
              </a:defRPr>
            </a:pPr>
            <a:r>
              <a:t>Dedicated Nodes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093207"/>
            <a:ext cx="3063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A33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4434840"/>
            <a:ext cx="3474720" cy="1234440"/>
          </a:xfrm>
          <a:prstGeom prst="roundRect">
            <a:avLst/>
          </a:prstGeom>
          <a:solidFill>
            <a:srgbClr val="F0F6FC"/>
          </a:solidFill>
          <a:ln>
            <a:solidFill>
              <a:srgbClr val="E1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389120" y="4434840"/>
            <a:ext cx="82296" cy="1234440"/>
          </a:xfrm>
          <a:prstGeom prst="rect">
            <a:avLst/>
          </a:prstGeom>
          <a:solidFill>
            <a:srgbClr val="2A9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17720" y="4599431"/>
            <a:ext cx="30632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8223D"/>
                </a:solidFill>
                <a:latin typeface="Aptos"/>
              </a:defRPr>
            </a:pPr>
            <a:r>
              <a:t>Batch Job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5093207"/>
            <a:ext cx="3063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A33"/>
                </a:solidFill>
                <a:latin typeface="Aptos"/>
              </a:defRPr>
            </a:pPr>
            <a:r>
              <a:t>simulation-job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75320" y="4434840"/>
            <a:ext cx="3474720" cy="1234440"/>
          </a:xfrm>
          <a:prstGeom prst="roundRect">
            <a:avLst/>
          </a:prstGeom>
          <a:solidFill>
            <a:srgbClr val="F0F6FC"/>
          </a:solidFill>
          <a:ln>
            <a:solidFill>
              <a:srgbClr val="E1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275320" y="4434840"/>
            <a:ext cx="82296" cy="1234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503920" y="4599431"/>
            <a:ext cx="30632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8223D"/>
                </a:solidFill>
                <a:latin typeface="Aptos"/>
              </a:defRPr>
            </a:pPr>
            <a:r>
              <a:t>Tasks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5093207"/>
            <a:ext cx="3063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A33"/>
                </a:solidFill>
                <a:latin typeface="Aptos"/>
              </a:defRPr>
            </a:pPr>
            <a:r>
              <a:t>300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2920" y="6615684"/>
            <a:ext cx="10515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Azure Batch for an Engineering Simulation Workload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60654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8223D"/>
                </a:solidFill>
                <a:latin typeface="Aptos Display"/>
              </a:defRPr>
            </a:pPr>
            <a:r>
              <a:t>7. Azure Batch Account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7387"/>
                </a:solidFill>
                <a:latin typeface="Aptos"/>
              </a:defRPr>
            </a:pPr>
            <a:r>
              <a:t>Actual Azure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112014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1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creenshot 2026-09-27 0108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27030"/>
            <a:ext cx="11201400" cy="28897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272783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C7387"/>
                </a:solidFill>
              </a:defRPr>
            </a:pPr>
            <a:r>
              <a:t>Batch account overview captured in Azure Portal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615684"/>
            <a:ext cx="10515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Azure Batch for an Engineering Simulation Workload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60654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8223D"/>
                </a:solidFill>
                <a:latin typeface="Aptos Display"/>
              </a:defRPr>
            </a:pPr>
            <a:r>
              <a:t>8. Compute Pool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7387"/>
                </a:solidFill>
                <a:latin typeface="Aptos"/>
              </a:defRPr>
            </a:pPr>
            <a:r>
              <a:t>Actual pool used for the workload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112014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1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creenshot 2026-09-27 0111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6636"/>
            <a:ext cx="11201400" cy="43905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272783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C7387"/>
                </a:solidFill>
              </a:defRPr>
            </a:pPr>
            <a:r>
              <a:t>simulation-pool: 2 dedicated nodes • 4 vCPUs total • Standard_D2s_v3 • Steady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615684"/>
            <a:ext cx="10515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Azure Batch for an Engineering Simulation Workload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60654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8223D"/>
                </a:solidFill>
                <a:latin typeface="Aptos Display"/>
              </a:defRPr>
            </a:pPr>
            <a:r>
              <a:t>9. Batch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7387"/>
                </a:solidFill>
                <a:latin typeface="Aptos"/>
              </a:defRPr>
            </a:pPr>
            <a:r>
              <a:t>Actual job created in the Batch account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112014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1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creenshot 2026-09-27 0112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32745"/>
            <a:ext cx="11201400" cy="38783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272783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C7387"/>
                </a:solidFill>
              </a:defRPr>
            </a:pPr>
            <a:r>
              <a:t>simulation-job • Active • linked to simulation-pool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615684"/>
            <a:ext cx="10515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Azure Batch for an Engineering Simulation Workload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60654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8223D"/>
                </a:solidFill>
                <a:latin typeface="Aptos Display"/>
              </a:defRPr>
            </a:pPr>
            <a:r>
              <a:t>10. Task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7387"/>
                </a:solidFill>
                <a:latin typeface="Aptos"/>
              </a:defRPr>
            </a:pPr>
            <a:r>
              <a:t>300 independent simulation tasks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246120" cy="1828800"/>
          </a:xfrm>
          <a:prstGeom prst="roundRect">
            <a:avLst/>
          </a:prstGeom>
          <a:solidFill>
            <a:srgbClr val="F0F6FC"/>
          </a:solidFill>
          <a:ln>
            <a:solidFill>
              <a:srgbClr val="E1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82296" cy="1828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90472"/>
            <a:ext cx="28346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8223D"/>
                </a:solidFill>
                <a:latin typeface="Aptos"/>
              </a:defRPr>
            </a:pPr>
            <a:r>
              <a:t>Task Range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84248"/>
            <a:ext cx="28346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A33"/>
                </a:solidFill>
                <a:latin typeface="Aptos"/>
              </a:defRPr>
            </a:pPr>
            <a:r>
              <a:t>simulation-task-001</a:t>
            </a:r>
            <a:br/>
            <a:r>
              <a:t>through</a:t>
            </a:r>
            <a:br/>
            <a:r>
              <a:t>simulation-task-300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325880"/>
            <a:ext cx="3246120" cy="1828800"/>
          </a:xfrm>
          <a:prstGeom prst="roundRect">
            <a:avLst/>
          </a:prstGeom>
          <a:solidFill>
            <a:srgbClr val="F0F6FC"/>
          </a:solidFill>
          <a:ln>
            <a:solidFill>
              <a:srgbClr val="E1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069080" y="1325880"/>
            <a:ext cx="82296" cy="1828800"/>
          </a:xfrm>
          <a:prstGeom prst="rect">
            <a:avLst/>
          </a:prstGeom>
          <a:solidFill>
            <a:srgbClr val="2A9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0" y="1490472"/>
            <a:ext cx="28346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8223D"/>
                </a:solidFill>
                <a:latin typeface="Aptos"/>
              </a:defRPr>
            </a:pPr>
            <a:r>
              <a:t>Workload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984248"/>
            <a:ext cx="28346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A33"/>
                </a:solidFill>
                <a:latin typeface="Aptos"/>
              </a:defRPr>
            </a:pPr>
            <a:r>
              <a:t>Repeated numerical calculations</a:t>
            </a:r>
            <a:br/>
            <a:r>
              <a:t>performed independently per task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1325880"/>
            <a:ext cx="3886200" cy="1828800"/>
          </a:xfrm>
          <a:prstGeom prst="roundRect">
            <a:avLst/>
          </a:prstGeom>
          <a:solidFill>
            <a:srgbClr val="F0F6FC"/>
          </a:solidFill>
          <a:ln>
            <a:solidFill>
              <a:srgbClr val="E1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543800" y="1325880"/>
            <a:ext cx="82296" cy="1828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0" y="1490472"/>
            <a:ext cx="3474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8223D"/>
                </a:solidFill>
                <a:latin typeface="Aptos"/>
              </a:defRPr>
            </a:pPr>
            <a:r>
              <a:t>Scheduling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984248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A33"/>
                </a:solidFill>
                <a:latin typeface="Aptos"/>
              </a:defRPr>
            </a:pPr>
            <a:r>
              <a:t>Azure Batch places queued tasks</a:t>
            </a:r>
            <a:br/>
            <a:r>
              <a:t>onto available compute nodes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657600"/>
            <a:ext cx="10607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02A33"/>
                </a:solidFill>
                <a:latin typeface="Aptos"/>
              </a:defRPr>
            </a:pPr>
            <a:r>
              <a:t>• Tasks were submitted in three batches of 100 tasks.</a:t>
            </a:r>
          </a:p>
          <a:p>
            <a:pPr>
              <a:spcAft>
                <a:spcPts val="1300"/>
              </a:spcAft>
              <a:defRPr sz="1700">
                <a:solidFill>
                  <a:srgbClr val="202A33"/>
                </a:solidFill>
                <a:latin typeface="Aptos"/>
              </a:defRPr>
            </a:pPr>
            <a:r>
              <a:t>• Each task used a non-admin task identity on the Ubuntu compute nodes.</a:t>
            </a:r>
          </a:p>
          <a:p>
            <a:pPr>
              <a:spcAft>
                <a:spcPts val="1300"/>
              </a:spcAft>
              <a:defRPr sz="1700">
                <a:solidFill>
                  <a:srgbClr val="202A33"/>
                </a:solidFill>
                <a:latin typeface="Aptos"/>
              </a:defRPr>
            </a:pPr>
            <a:r>
              <a:t>• Two dedicated nodes were used to keep the educational demonstration small and cost-conscious.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6615684"/>
            <a:ext cx="10515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Azure Batch for an Engineering Simulation Workload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60654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8223D"/>
                </a:solidFill>
                <a:latin typeface="Aptos Display"/>
              </a:defRPr>
            </a:pPr>
            <a:r>
              <a:t>11. Execution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7387"/>
                </a:solidFill>
                <a:latin typeface="Aptos"/>
              </a:defRPr>
            </a:pPr>
            <a:r>
              <a:t>Azure Portal shows the workload progressing through Batch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112014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1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creenshot 2026-09-27 0112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106" y="1325880"/>
            <a:ext cx="10057026" cy="4892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272783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C7387"/>
                </a:solidFill>
              </a:defRPr>
            </a:pPr>
            <a:r>
              <a:t>Azure Batch task list: 300 tasks, 100% completed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615684"/>
            <a:ext cx="10515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Azure Batch for an Engineering Simulation Workload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60654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8223D"/>
                </a:solidFill>
                <a:latin typeface="Aptos Display"/>
              </a:defRPr>
            </a:pPr>
            <a:r>
              <a:t>12. Final Task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7387"/>
                </a:solidFill>
                <a:latin typeface="Aptos"/>
              </a:defRPr>
            </a:pPr>
            <a:r>
              <a:t>Completion and exit-code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112014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1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creenshot 2026-09-27 0112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05" y="1325880"/>
            <a:ext cx="10104229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815583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C7387"/>
                </a:solidFill>
              </a:defRPr>
            </a:pPr>
            <a:r>
              <a:t>Tasks 284–300 shown as Completed with exit code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5806440"/>
            <a:ext cx="6126480" cy="566928"/>
          </a:xfrm>
          <a:prstGeom prst="roundRect">
            <a:avLst/>
          </a:prstGeom>
          <a:solidFill>
            <a:srgbClr val="F0F6FC"/>
          </a:solidFill>
          <a:ln>
            <a:solidFill>
              <a:srgbClr val="E1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063240" y="5806440"/>
            <a:ext cx="82296" cy="566928"/>
          </a:xfrm>
          <a:prstGeom prst="rect">
            <a:avLst/>
          </a:prstGeom>
          <a:solidFill>
            <a:srgbClr val="2A9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40" y="5971031"/>
            <a:ext cx="5715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8223D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6464807"/>
            <a:ext cx="57150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A33"/>
                </a:solidFill>
                <a:latin typeface="Aptos"/>
              </a:defRPr>
            </a:pPr>
            <a:r>
              <a:t>The displayed final tasks completed successfully (exit code 0).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615684"/>
            <a:ext cx="10515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Azure Batch for an Engineering Simulation Workload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60654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832"/>
            <a:ext cx="12191695" cy="6858000"/>
          </a:xfrm>
          <a:prstGeom prst="rect">
            <a:avLst/>
          </a:prstGeom>
          <a:solidFill>
            <a:srgbClr val="08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13. Final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Aptos"/>
              </a:defRPr>
            </a:pPr>
            <a:r>
              <a:t>What the Azure implementation demonstrated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423160" cy="2148840"/>
          </a:xfrm>
          <a:prstGeom prst="roundRect">
            <a:avLst/>
          </a:prstGeom>
          <a:solidFill>
            <a:srgbClr val="143452"/>
          </a:solidFill>
          <a:ln>
            <a:solidFill>
              <a:srgbClr val="326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2148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300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71800"/>
            <a:ext cx="2148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8DCEE"/>
                </a:solidFill>
              </a:defRPr>
            </a:pPr>
            <a:r>
              <a:t>Simulation tasks submitted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828800"/>
            <a:ext cx="2423160" cy="2148840"/>
          </a:xfrm>
          <a:prstGeom prst="roundRect">
            <a:avLst/>
          </a:prstGeom>
          <a:solidFill>
            <a:srgbClr val="143452"/>
          </a:solidFill>
          <a:ln>
            <a:solidFill>
              <a:srgbClr val="326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11879" y="2148840"/>
            <a:ext cx="2148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79" y="2971800"/>
            <a:ext cx="2148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8DCEE"/>
                </a:solidFill>
              </a:defRPr>
            </a:pPr>
            <a:r>
              <a:t>Dedicated compute nodes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828800"/>
            <a:ext cx="2423160" cy="2148840"/>
          </a:xfrm>
          <a:prstGeom prst="roundRect">
            <a:avLst/>
          </a:prstGeom>
          <a:solidFill>
            <a:srgbClr val="143452"/>
          </a:solidFill>
          <a:ln>
            <a:solidFill>
              <a:srgbClr val="326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2148840"/>
            <a:ext cx="2148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971800"/>
            <a:ext cx="2148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8DCEE"/>
                </a:solidFill>
              </a:defRPr>
            </a:pPr>
            <a:r>
              <a:t>Completed tasks shown in Azure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828800"/>
            <a:ext cx="2423160" cy="2148840"/>
          </a:xfrm>
          <a:prstGeom prst="roundRect">
            <a:avLst/>
          </a:prstGeom>
          <a:solidFill>
            <a:srgbClr val="143452"/>
          </a:solidFill>
          <a:ln>
            <a:solidFill>
              <a:srgbClr val="326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72600" y="2148840"/>
            <a:ext cx="2148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6795" y="2971800"/>
            <a:ext cx="164044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8DCEE"/>
                </a:solidFill>
              </a:defRPr>
            </a:pPr>
            <a:r>
              <a:rPr dirty="0"/>
              <a:t>Exit code for the </a:t>
            </a:r>
            <a:endParaRPr lang="en-US" dirty="0"/>
          </a:p>
          <a:p>
            <a:pPr algn="ctr">
              <a:defRPr sz="1400">
                <a:solidFill>
                  <a:srgbClr val="C8DCEE"/>
                </a:solidFill>
              </a:defRPr>
            </a:pPr>
            <a:r>
              <a:rPr dirty="0"/>
              <a:t>displayed final tasks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615684"/>
            <a:ext cx="10515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Azure Batch for an Engineering Simulation Workload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60654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8223D"/>
                </a:solidFill>
                <a:latin typeface="Aptos Display"/>
              </a:defRPr>
            </a:pPr>
            <a:r>
              <a:t>14. Prototype and Azure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7387"/>
                </a:solidFill>
                <a:latin typeface="Aptos"/>
              </a:defRPr>
            </a:pPr>
            <a:r>
              <a:t>Kept separate according to the project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166360" cy="4251960"/>
          </a:xfrm>
          <a:prstGeom prst="roundRect">
            <a:avLst/>
          </a:prstGeom>
          <a:solidFill>
            <a:srgbClr val="F0F6FC"/>
          </a:solidFill>
          <a:ln>
            <a:solidFill>
              <a:srgbClr val="E1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82296" cy="4251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81912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8223D"/>
                </a:solidFill>
                <a:latin typeface="Aptos"/>
              </a:defRPr>
            </a:pPr>
            <a:r>
              <a:t>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75688"/>
            <a:ext cx="47548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A33"/>
                </a:solidFill>
                <a:latin typeface="Aptos"/>
              </a:defRPr>
            </a:pPr>
            <a:r>
              <a:rPr dirty="0"/>
              <a:t>• Demonstrates the engineering application concept</a:t>
            </a:r>
            <a:br>
              <a:rPr dirty="0"/>
            </a:br>
            <a:r>
              <a:rPr dirty="0"/>
              <a:t>• Example:</a:t>
            </a:r>
            <a:r>
              <a:rPr lang="en-US" dirty="0"/>
              <a:t> </a:t>
            </a:r>
            <a:r>
              <a:rPr lang="en-US" dirty="0" err="1"/>
              <a:t>Simflow</a:t>
            </a:r>
            <a:r>
              <a:rPr lang="en-US" dirty="0"/>
              <a:t> Workload</a:t>
            </a:r>
            <a:br>
              <a:rPr dirty="0"/>
            </a:br>
            <a:r>
              <a:rPr dirty="0"/>
              <a:t>• Shows inputs, scenarios, processing and results</a:t>
            </a:r>
            <a:br>
              <a:rPr dirty="0"/>
            </a:br>
            <a:r>
              <a:rPr dirty="0"/>
              <a:t>• Does not need to connect to Azure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166360" cy="4251960"/>
          </a:xfrm>
          <a:prstGeom prst="roundRect">
            <a:avLst/>
          </a:prstGeom>
          <a:solidFill>
            <a:srgbClr val="F0F6FC"/>
          </a:solidFill>
          <a:ln>
            <a:solidFill>
              <a:srgbClr val="E1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82296" cy="4251960"/>
          </a:xfrm>
          <a:prstGeom prst="rect">
            <a:avLst/>
          </a:prstGeom>
          <a:solidFill>
            <a:srgbClr val="2A9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581912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8223D"/>
                </a:solidFill>
                <a:latin typeface="Aptos"/>
              </a:defRPr>
            </a:pPr>
            <a:r>
              <a:t>Azure Implementation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75688"/>
            <a:ext cx="475488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A33"/>
                </a:solidFill>
                <a:latin typeface="Aptos"/>
              </a:defRPr>
            </a:pPr>
            <a:r>
              <a:t>• Demonstrates cloud batch processing</a:t>
            </a:r>
            <a:br/>
            <a:r>
              <a:t>• Azure Batch account + compute pool</a:t>
            </a:r>
            <a:br/>
            <a:r>
              <a:t>• Batch job + 300 independent tasks</a:t>
            </a:r>
            <a:br/>
            <a:r>
              <a:t>• Monitoring and completion verification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615684"/>
            <a:ext cx="10515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Azure Batch for an Engineering Simulation Workload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60654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8223D"/>
                </a:solidFill>
                <a:latin typeface="Aptos Display"/>
              </a:defRPr>
            </a:pPr>
            <a:r>
              <a:t>15. Advantages and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02A33"/>
                </a:solidFill>
                <a:latin typeface="Aptos"/>
              </a:defRPr>
            </a:pPr>
            <a:r>
              <a:t>• Parallel task execution: independent simulation cases can be scheduled across compute nodes.</a:t>
            </a:r>
          </a:p>
          <a:p>
            <a:pPr>
              <a:spcAft>
                <a:spcPts val="1300"/>
              </a:spcAft>
              <a:defRPr sz="1800">
                <a:solidFill>
                  <a:srgbClr val="202A33"/>
                </a:solidFill>
                <a:latin typeface="Aptos"/>
              </a:defRPr>
            </a:pPr>
            <a:r>
              <a:t>• Scalability: the same Batch pattern can be expanded by increasing compute resources when appropriate.</a:t>
            </a:r>
          </a:p>
          <a:p>
            <a:pPr>
              <a:spcAft>
                <a:spcPts val="1300"/>
              </a:spcAft>
              <a:defRPr sz="1800">
                <a:solidFill>
                  <a:srgbClr val="202A33"/>
                </a:solidFill>
                <a:latin typeface="Aptos"/>
              </a:defRPr>
            </a:pPr>
            <a:r>
              <a:t>• Managed scheduling: Azure Batch handles task queuing and assignment to available nodes.</a:t>
            </a:r>
          </a:p>
          <a:p>
            <a:pPr>
              <a:spcAft>
                <a:spcPts val="1300"/>
              </a:spcAft>
              <a:defRPr sz="1800">
                <a:solidFill>
                  <a:srgbClr val="202A33"/>
                </a:solidFill>
                <a:latin typeface="Aptos"/>
              </a:defRPr>
            </a:pPr>
            <a:r>
              <a:t>• Potential applications include structural analysis, thermal simulations, manufacturing parameter sweeps, aerospace studies and other independent numerical workloads.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15684"/>
            <a:ext cx="10515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Azure Batch for an Engineering Simulation Workload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0654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8223D"/>
                </a:solidFill>
                <a:latin typeface="Aptos Display"/>
              </a:defRPr>
            </a:pPr>
            <a:r>
              <a:t>16. Limitations and Cost Considerations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303520" cy="4297680"/>
          </a:xfrm>
          <a:prstGeom prst="roundRect">
            <a:avLst/>
          </a:prstGeom>
          <a:solidFill>
            <a:srgbClr val="F0F6FC"/>
          </a:solidFill>
          <a:ln>
            <a:solidFill>
              <a:srgbClr val="E1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82296" cy="42976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90472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8223D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84248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A33"/>
                </a:solidFill>
                <a:latin typeface="Aptos"/>
              </a:defRPr>
            </a:pPr>
            <a:r>
              <a:t>• The numerical workload is a demonstration workload, not a production engineering solver.</a:t>
            </a:r>
            <a:br/>
            <a:r>
              <a:t>• The prototype and Azure implementation are separate.</a:t>
            </a:r>
            <a:br/>
            <a:r>
              <a:t>• Results from the demonstration should not be interpreted as physical engineering predictions.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303520" cy="4297680"/>
          </a:xfrm>
          <a:prstGeom prst="roundRect">
            <a:avLst/>
          </a:prstGeom>
          <a:solidFill>
            <a:srgbClr val="F0F6FC"/>
          </a:solidFill>
          <a:ln>
            <a:solidFill>
              <a:srgbClr val="E1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325880"/>
            <a:ext cx="82296" cy="4297680"/>
          </a:xfrm>
          <a:prstGeom prst="rect">
            <a:avLst/>
          </a:prstGeom>
          <a:solidFill>
            <a:srgbClr val="2A9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490472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8223D"/>
                </a:solidFill>
                <a:latin typeface="Aptos"/>
              </a:defRPr>
            </a:pPr>
            <a:r>
              <a:t>Cost / Resource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84248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A33"/>
                </a:solidFill>
                <a:latin typeface="Aptos"/>
              </a:defRPr>
            </a:pPr>
            <a:r>
              <a:t>• Azure for Students subscription was used.</a:t>
            </a:r>
            <a:br/>
            <a:r>
              <a:t>• A small two-node pool was selected instead of hundreds of nodes.</a:t>
            </a:r>
            <a:br/>
            <a:r>
              <a:t>• The configuration was sufficient to demonstrate Batch scheduling while limiting resource usage.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615684"/>
            <a:ext cx="10515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Azure Batch for an Engineering Simulation Workload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60654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17.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Aptos"/>
              </a:defRPr>
            </a:pPr>
            <a:r>
              <a:t>Project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An Azure Batch environment was created for an engineering simulation workload.</a:t>
            </a:r>
          </a:p>
          <a:p>
            <a:pPr>
              <a:spcAft>
                <a:spcPts val="13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A compute pool with two Standard_D2s_v3 nodes was configured.</a:t>
            </a:r>
          </a:p>
          <a:p>
            <a:pPr>
              <a:spcAft>
                <a:spcPts val="13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A Batch job was created and populated with 300 independent tasks.</a:t>
            </a:r>
          </a:p>
          <a:p>
            <a:pPr>
              <a:spcAft>
                <a:spcPts val="13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Azure Portal evidence shows 300 tasks at 100% completion, with the displayed final tasks returning exit code 0.</a:t>
            </a:r>
          </a:p>
          <a:p>
            <a:pPr>
              <a:spcAft>
                <a:spcPts val="13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The project demonstrates the basic cloud workflow for scaling independent simulation computations.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615684"/>
            <a:ext cx="10515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Azure Batch for an Engineering Simulation Workload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60654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8223D"/>
                </a:solidFill>
                <a:latin typeface="Aptos Display"/>
              </a:defRPr>
            </a:pPr>
            <a:r>
              <a:t>18.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02A33"/>
                </a:solidFill>
                <a:latin typeface="Aptos"/>
              </a:defRPr>
            </a:pPr>
            <a:r>
              <a:t>• Replace the demonstration numerical workload with a validated engineering simulation solver.</a:t>
            </a:r>
          </a:p>
          <a:p>
            <a:pPr>
              <a:spcAft>
                <a:spcPts val="1300"/>
              </a:spcAft>
              <a:defRPr sz="1900">
                <a:solidFill>
                  <a:srgbClr val="202A33"/>
                </a:solidFill>
                <a:latin typeface="Aptos"/>
              </a:defRPr>
            </a:pPr>
            <a:r>
              <a:t>• Use realistic engineering input files and parameter sets for each scenario.</a:t>
            </a:r>
          </a:p>
          <a:p>
            <a:pPr>
              <a:spcAft>
                <a:spcPts val="1300"/>
              </a:spcAft>
              <a:defRPr sz="1900">
                <a:solidFill>
                  <a:srgbClr val="202A33"/>
                </a:solidFill>
                <a:latin typeface="Aptos"/>
              </a:defRPr>
            </a:pPr>
            <a:r>
              <a:t>• Collect task outputs into Azure Storage for centralized result analysis.</a:t>
            </a:r>
          </a:p>
          <a:p>
            <a:pPr>
              <a:spcAft>
                <a:spcPts val="1300"/>
              </a:spcAft>
              <a:defRPr sz="1900">
                <a:solidFill>
                  <a:srgbClr val="202A33"/>
                </a:solidFill>
                <a:latin typeface="Aptos"/>
              </a:defRPr>
            </a:pPr>
            <a:r>
              <a:t>• Experiment with larger pools and autoscaling for larger workloads.</a:t>
            </a:r>
          </a:p>
          <a:p>
            <a:pPr>
              <a:spcAft>
                <a:spcPts val="1300"/>
              </a:spcAft>
              <a:defRPr sz="1900">
                <a:solidFill>
                  <a:srgbClr val="202A33"/>
                </a:solidFill>
                <a:latin typeface="Aptos"/>
              </a:defRPr>
            </a:pPr>
            <a:r>
              <a:t>• Connect the standalone prototype to the cloud workflow if future project scope requires integration.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15684"/>
            <a:ext cx="10515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Azure Batch for an Engineering Simulation Workload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60654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F8E11-5FF1-5633-EC0E-9325A6046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D949DA-260D-1AB8-A6F9-30CDDB5216C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654840-C17C-9A74-E985-002ABEDDAC6B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0FD71A-7F78-4DFD-C9F3-AF579D4FDAE2}"/>
              </a:ext>
            </a:extLst>
          </p:cNvPr>
          <p:cNvSpPr txBox="1"/>
          <p:nvPr/>
        </p:nvSpPr>
        <p:spPr>
          <a:xfrm>
            <a:off x="777240" y="1051560"/>
            <a:ext cx="43748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rPr lang="en-US" sz="4800" dirty="0"/>
              <a:t>THANK YOU</a:t>
            </a:r>
            <a:endParaRPr sz="480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0F5AF90-A2EC-F695-5AF7-5C92DDA15935}"/>
              </a:ext>
            </a:extLst>
          </p:cNvPr>
          <p:cNvSpPr/>
          <p:nvPr/>
        </p:nvSpPr>
        <p:spPr>
          <a:xfrm>
            <a:off x="822960" y="3630167"/>
            <a:ext cx="4937760" cy="1417320"/>
          </a:xfrm>
          <a:prstGeom prst="roundRect">
            <a:avLst/>
          </a:prstGeom>
          <a:solidFill>
            <a:srgbClr val="F0F6FC"/>
          </a:solidFill>
          <a:ln>
            <a:solidFill>
              <a:srgbClr val="E1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3F88F9-6468-3A52-D93E-7EF6DE66E664}"/>
              </a:ext>
            </a:extLst>
          </p:cNvPr>
          <p:cNvSpPr/>
          <p:nvPr/>
        </p:nvSpPr>
        <p:spPr>
          <a:xfrm>
            <a:off x="777240" y="3657600"/>
            <a:ext cx="82296" cy="14173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6E416D-41DC-B043-6057-D7414DB871B0}"/>
              </a:ext>
            </a:extLst>
          </p:cNvPr>
          <p:cNvSpPr txBox="1"/>
          <p:nvPr/>
        </p:nvSpPr>
        <p:spPr>
          <a:xfrm>
            <a:off x="1024128" y="3717035"/>
            <a:ext cx="4526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A33"/>
                </a:solidFill>
                <a:latin typeface="Aptos"/>
              </a:defRPr>
            </a:pPr>
            <a:endParaRPr lang="en-IN" dirty="0" err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CBD351-D423-3742-C733-CDA1C89E03C1}"/>
              </a:ext>
            </a:extLst>
          </p:cNvPr>
          <p:cNvSpPr txBox="1"/>
          <p:nvPr/>
        </p:nvSpPr>
        <p:spPr>
          <a:xfrm>
            <a:off x="6217920" y="3822191"/>
            <a:ext cx="4526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8223D"/>
                </a:solidFill>
                <a:latin typeface="Aptos"/>
              </a:defRPr>
            </a:pPr>
            <a:r>
              <a:t>Institution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5F5FE9-5AE3-7CE1-CB21-5460B592B0FE}"/>
              </a:ext>
            </a:extLst>
          </p:cNvPr>
          <p:cNvSpPr txBox="1"/>
          <p:nvPr/>
        </p:nvSpPr>
        <p:spPr>
          <a:xfrm>
            <a:off x="6217920" y="4315968"/>
            <a:ext cx="4526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A33"/>
                </a:solidFill>
                <a:latin typeface="Aptos"/>
              </a:defRPr>
            </a:pPr>
            <a:r>
              <a:rPr dirty="0"/>
              <a:t>Koneru Lakshmaiah Education Foundation (KLEF)</a:t>
            </a:r>
            <a:br>
              <a:rPr dirty="0"/>
            </a:br>
            <a:r>
              <a:rPr dirty="0"/>
              <a:t>Department of Computer Science and Engineering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D3CE2A7-9D45-288B-8251-48000077D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3657600"/>
            <a:ext cx="2499513" cy="1322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343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1142</Words>
  <Application>Microsoft Office PowerPoint</Application>
  <PresentationFormat>Widescreen</PresentationFormat>
  <Paragraphs>179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CHITTULURU SRINEHA</dc:creator>
  <cp:keywords/>
  <dc:description>generated using python-pptx</dc:description>
  <cp:lastModifiedBy>SANGULA BHAVYA SRI</cp:lastModifiedBy>
  <cp:revision>3</cp:revision>
  <dcterms:created xsi:type="dcterms:W3CDTF">2013-01-27T09:14:16Z</dcterms:created>
  <dcterms:modified xsi:type="dcterms:W3CDTF">2026-09-27T03:49:52Z</dcterms:modified>
  <cp:category/>
</cp:coreProperties>
</file>